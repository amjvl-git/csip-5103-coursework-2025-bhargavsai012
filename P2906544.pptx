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DM Sans" pitchFamily="2" charset="77"/>
      <p:regular r:id="rId16"/>
      <p:bold r:id="rId17"/>
      <p:italic r:id="rId18"/>
      <p:boldItalic r:id="rId19"/>
    </p:embeddedFont>
    <p:embeddedFont>
      <p:font typeface="Merriweather" pitchFamily="2" charset="77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114"/>
    <p:restoredTop sz="94641"/>
  </p:normalViewPr>
  <p:slideViewPr>
    <p:cSldViewPr snapToGrid="0">
      <p:cViewPr varScale="1">
        <p:scale>
          <a:sx n="146" d="100"/>
          <a:sy n="146" d="100"/>
        </p:scale>
        <p:origin x="1096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1A446A-C7A6-425B-8B87-0CF6CA0474D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B99719-5C38-4AE3-9F55-455E7861BF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Dataset Preparation:</a:t>
          </a:r>
          <a:br>
            <a:rPr lang="en-US" b="0" i="0" dirty="0"/>
          </a:br>
          <a:r>
            <a:rPr lang="en-US" b="0" i="0" dirty="0"/>
            <a:t>Used </a:t>
          </a:r>
          <a:r>
            <a:rPr lang="en-US" b="1" i="0" dirty="0"/>
            <a:t>Fashion-MNIST</a:t>
          </a:r>
          <a:r>
            <a:rPr lang="en-US" b="0" i="0" dirty="0"/>
            <a:t> dataset with </a:t>
          </a:r>
          <a:r>
            <a:rPr lang="en-US" b="1" i="0" dirty="0"/>
            <a:t>70,000 images</a:t>
          </a:r>
          <a:r>
            <a:rPr lang="en-US" b="0" i="0" dirty="0"/>
            <a:t> (28×28 grayscale).</a:t>
          </a:r>
          <a:br>
            <a:rPr lang="en-US" b="0" i="0" dirty="0"/>
          </a:br>
          <a:r>
            <a:rPr lang="en-US" b="0" i="0" dirty="0"/>
            <a:t>Split into </a:t>
          </a:r>
          <a:r>
            <a:rPr lang="en-US" b="1" i="0" dirty="0"/>
            <a:t>Training (50,000)</a:t>
          </a:r>
          <a:r>
            <a:rPr lang="en-US" b="0" i="0" dirty="0"/>
            <a:t>, </a:t>
          </a:r>
          <a:r>
            <a:rPr lang="en-US" b="1" i="0" dirty="0"/>
            <a:t>Validation (10,000)</a:t>
          </a:r>
          <a:r>
            <a:rPr lang="en-US" b="0" i="0" dirty="0"/>
            <a:t>, and </a:t>
          </a:r>
          <a:r>
            <a:rPr lang="en-US" b="1" i="0" dirty="0"/>
            <a:t>Test (10,000)</a:t>
          </a:r>
          <a:r>
            <a:rPr lang="en-US" b="0" i="0" dirty="0"/>
            <a:t> sets.</a:t>
          </a:r>
          <a:br>
            <a:rPr lang="en-US" b="0" i="0" dirty="0"/>
          </a:br>
          <a:r>
            <a:rPr lang="en-US" b="0" i="0" dirty="0"/>
            <a:t>Applied </a:t>
          </a:r>
          <a:r>
            <a:rPr lang="en-US" b="1" i="0" dirty="0"/>
            <a:t>normalization</a:t>
          </a:r>
          <a:r>
            <a:rPr lang="en-US" b="0" i="0" dirty="0"/>
            <a:t> (scaling 0–255 → 0.0–1.0) for stability and faster convergence.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FD3BB802-BD98-4510-8927-92CA56D6DA98}" type="parTrans" cxnId="{A30708A9-D147-49DD-AFF9-BDA4EA2D7D5B}">
      <dgm:prSet/>
      <dgm:spPr/>
      <dgm:t>
        <a:bodyPr/>
        <a:lstStyle/>
        <a:p>
          <a:endParaRPr lang="en-US"/>
        </a:p>
      </dgm:t>
    </dgm:pt>
    <dgm:pt modelId="{CC71E522-3791-40E8-B15E-55BBB031DE5D}" type="sibTrans" cxnId="{A30708A9-D147-49DD-AFF9-BDA4EA2D7D5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F18B4F8-9801-4BBF-9A23-AE008F5BF5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Model Development:</a:t>
          </a:r>
          <a:br>
            <a:rPr lang="en-US" b="0" i="0" dirty="0"/>
          </a:br>
          <a:r>
            <a:rPr lang="en-US" b="0" i="0" dirty="0"/>
            <a:t>Implemented two architectures —&gt; </a:t>
          </a:r>
          <a:r>
            <a:rPr lang="en-US" b="1" i="0" dirty="0"/>
            <a:t>ANN</a:t>
          </a:r>
          <a:r>
            <a:rPr lang="en-US" b="0" i="0" dirty="0"/>
            <a:t> and </a:t>
          </a:r>
          <a:r>
            <a:rPr lang="en-US" b="1" i="0" dirty="0"/>
            <a:t>CNN,</a:t>
          </a:r>
          <a:r>
            <a:rPr lang="en-US" b="0" i="0" dirty="0"/>
            <a:t> for performance comparison.</a:t>
          </a:r>
          <a:br>
            <a:rPr lang="en-US" b="0" i="0" dirty="0"/>
          </a:br>
          <a:r>
            <a:rPr lang="en-US" b="0" i="0" dirty="0"/>
            <a:t>Both trained using </a:t>
          </a:r>
          <a:r>
            <a:rPr lang="en-US" b="1" i="0" dirty="0"/>
            <a:t>Adam Optimizer</a:t>
          </a:r>
          <a:r>
            <a:rPr lang="en-US" b="0" i="0" dirty="0"/>
            <a:t> and </a:t>
          </a:r>
          <a:r>
            <a:rPr lang="en-US" b="1" i="0" dirty="0"/>
            <a:t>Categorical Cross-Entropy</a:t>
          </a:r>
          <a:r>
            <a:rPr lang="en-US" b="0" i="0" dirty="0"/>
            <a:t> loss.</a:t>
          </a:r>
          <a:br>
            <a:rPr lang="en-US" b="0" i="0" dirty="0"/>
          </a:br>
          <a:r>
            <a:rPr lang="en-US" b="0" i="0" dirty="0"/>
            <a:t>Applied </a:t>
          </a:r>
          <a:r>
            <a:rPr lang="en-US" b="1" i="0" dirty="0"/>
            <a:t>Early Stopping (patience = 5)</a:t>
          </a:r>
          <a:r>
            <a:rPr lang="en-US" b="0" i="0" dirty="0"/>
            <a:t> to prevent overfitting.</a:t>
          </a:r>
        </a:p>
        <a:p>
          <a:pPr>
            <a:lnSpc>
              <a:spcPct val="100000"/>
            </a:lnSpc>
          </a:pPr>
          <a:endParaRPr lang="en-US" b="0" i="0" dirty="0"/>
        </a:p>
        <a:p>
          <a:pPr>
            <a:lnSpc>
              <a:spcPct val="100000"/>
            </a:lnSpc>
          </a:pPr>
          <a:endParaRPr lang="en-US" b="0" i="0" dirty="0"/>
        </a:p>
      </dgm:t>
    </dgm:pt>
    <dgm:pt modelId="{2AA47E2D-B462-47C8-8CD1-07943C709EF5}" type="parTrans" cxnId="{994541D3-D899-4663-9B82-3627431E5F81}">
      <dgm:prSet/>
      <dgm:spPr/>
      <dgm:t>
        <a:bodyPr/>
        <a:lstStyle/>
        <a:p>
          <a:endParaRPr lang="en-US"/>
        </a:p>
      </dgm:t>
    </dgm:pt>
    <dgm:pt modelId="{EA8E00CD-9AA8-4A8B-99D3-BA8176E6AACB}" type="sibTrans" cxnId="{994541D3-D899-4663-9B82-3627431E5F8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F89073-3186-4D90-BBFB-913E85CCD44F}">
      <dgm:prSet/>
      <dgm:spPr/>
      <dgm:t>
        <a:bodyPr/>
        <a:lstStyle/>
        <a:p>
          <a:pPr>
            <a:lnSpc>
              <a:spcPct val="100000"/>
            </a:lnSpc>
          </a:pPr>
          <a:endParaRPr lang="en-US" b="1" i="0" dirty="0"/>
        </a:p>
        <a:p>
          <a:pPr>
            <a:lnSpc>
              <a:spcPct val="100000"/>
            </a:lnSpc>
          </a:pPr>
          <a:endParaRPr lang="en-US" b="1" i="0" dirty="0"/>
        </a:p>
        <a:p>
          <a:pPr>
            <a:lnSpc>
              <a:spcPct val="100000"/>
            </a:lnSpc>
          </a:pPr>
          <a:r>
            <a:rPr lang="en-US" b="1" i="0" dirty="0"/>
            <a:t>Hyperparameter Tuning:</a:t>
          </a:r>
          <a:br>
            <a:rPr lang="en-US" b="0" i="0" dirty="0"/>
          </a:br>
          <a:r>
            <a:rPr lang="en-US" b="0" i="0" dirty="0"/>
            <a:t>Experimented with </a:t>
          </a:r>
          <a:r>
            <a:rPr lang="en-US" b="1" i="0" dirty="0"/>
            <a:t>learning rate (0.001)</a:t>
          </a:r>
          <a:r>
            <a:rPr lang="en-US" b="0" i="0" dirty="0"/>
            <a:t> and </a:t>
          </a:r>
          <a:r>
            <a:rPr lang="en-US" b="1" i="0" dirty="0"/>
            <a:t>batch size (64)</a:t>
          </a:r>
          <a:r>
            <a:rPr lang="en-US" b="0" i="0" dirty="0"/>
            <a:t> for optimal results.</a:t>
          </a:r>
          <a:endParaRPr lang="en-US" dirty="0"/>
        </a:p>
      </dgm:t>
    </dgm:pt>
    <dgm:pt modelId="{D7A0F68B-D756-4BE8-8D3E-8C954264FB8D}" type="parTrans" cxnId="{2083D01E-0A3F-443E-BC07-7446E37F97A8}">
      <dgm:prSet/>
      <dgm:spPr/>
      <dgm:t>
        <a:bodyPr/>
        <a:lstStyle/>
        <a:p>
          <a:endParaRPr lang="en-US"/>
        </a:p>
      </dgm:t>
    </dgm:pt>
    <dgm:pt modelId="{57ADB47C-DD22-46A5-B83C-6CC398DBDA22}" type="sibTrans" cxnId="{2083D01E-0A3F-443E-BC07-7446E37F97A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E538E6-29B4-4D8E-A7FD-48B9FD27C98F}">
      <dgm:prSet/>
      <dgm:spPr/>
      <dgm:t>
        <a:bodyPr/>
        <a:lstStyle/>
        <a:p>
          <a:pPr>
            <a:lnSpc>
              <a:spcPct val="100000"/>
            </a:lnSpc>
          </a:pPr>
          <a:endParaRPr lang="en-US" b="1" i="0" dirty="0"/>
        </a:p>
        <a:p>
          <a:pPr>
            <a:lnSpc>
              <a:spcPct val="100000"/>
            </a:lnSpc>
          </a:pPr>
          <a:endParaRPr lang="en-US" b="1" i="0" dirty="0"/>
        </a:p>
        <a:p>
          <a:pPr>
            <a:lnSpc>
              <a:spcPct val="100000"/>
            </a:lnSpc>
          </a:pPr>
          <a:r>
            <a:rPr lang="en-US" b="1" i="0" dirty="0"/>
            <a:t>Tools &amp; Environment:</a:t>
          </a:r>
          <a:br>
            <a:rPr lang="en-US" b="0" i="0" dirty="0"/>
          </a:br>
          <a:r>
            <a:rPr lang="en-US" b="0" i="0" dirty="0"/>
            <a:t>Implemented in </a:t>
          </a:r>
          <a:r>
            <a:rPr lang="en-US" b="1" i="0" dirty="0"/>
            <a:t>Python (TensorFlow/</a:t>
          </a:r>
          <a:r>
            <a:rPr lang="en-US" b="1" i="0" dirty="0" err="1"/>
            <a:t>Keras</a:t>
          </a:r>
          <a:r>
            <a:rPr lang="en-US" b="1" i="0" dirty="0"/>
            <a:t>)</a:t>
          </a:r>
          <a:r>
            <a:rPr lang="en-US" b="0" i="0" dirty="0"/>
            <a:t> on a GPU-supported environment.</a:t>
          </a:r>
          <a:endParaRPr lang="en-US" dirty="0"/>
        </a:p>
      </dgm:t>
    </dgm:pt>
    <dgm:pt modelId="{1875100A-C88A-406E-AF6D-4F65830C5A3E}" type="parTrans" cxnId="{1C53F933-39F7-4A97-A815-4DB13B264DAD}">
      <dgm:prSet/>
      <dgm:spPr/>
      <dgm:t>
        <a:bodyPr/>
        <a:lstStyle/>
        <a:p>
          <a:endParaRPr lang="en-US"/>
        </a:p>
      </dgm:t>
    </dgm:pt>
    <dgm:pt modelId="{63D234CB-ABEA-4D29-A98B-A12E576FE8C0}" type="sibTrans" cxnId="{1C53F933-39F7-4A97-A815-4DB13B264DAD}">
      <dgm:prSet/>
      <dgm:spPr/>
      <dgm:t>
        <a:bodyPr/>
        <a:lstStyle/>
        <a:p>
          <a:endParaRPr lang="en-US"/>
        </a:p>
      </dgm:t>
    </dgm:pt>
    <dgm:pt modelId="{B34F336A-07A2-4255-9191-10400EE7DD15}" type="pres">
      <dgm:prSet presAssocID="{351A446A-C7A6-425B-8B87-0CF6CA0474DA}" presName="root" presStyleCnt="0">
        <dgm:presLayoutVars>
          <dgm:dir/>
          <dgm:resizeHandles val="exact"/>
        </dgm:presLayoutVars>
      </dgm:prSet>
      <dgm:spPr/>
    </dgm:pt>
    <dgm:pt modelId="{4D631863-D3D1-4784-9C7A-0E410CEFC230}" type="pres">
      <dgm:prSet presAssocID="{351A446A-C7A6-425B-8B87-0CF6CA0474DA}" presName="container" presStyleCnt="0">
        <dgm:presLayoutVars>
          <dgm:dir/>
          <dgm:resizeHandles val="exact"/>
        </dgm:presLayoutVars>
      </dgm:prSet>
      <dgm:spPr/>
    </dgm:pt>
    <dgm:pt modelId="{933D2041-EB0D-4DC6-9C7E-F0313ADED9F4}" type="pres">
      <dgm:prSet presAssocID="{20B99719-5C38-4AE3-9F55-455E7861BF30}" presName="compNode" presStyleCnt="0"/>
      <dgm:spPr/>
    </dgm:pt>
    <dgm:pt modelId="{CC048841-50B6-4173-9D6E-B2BF01C44FA2}" type="pres">
      <dgm:prSet presAssocID="{20B99719-5C38-4AE3-9F55-455E7861BF30}" presName="iconBgRect" presStyleLbl="bgShp" presStyleIdx="0" presStyleCnt="4" custLinFactY="-13507" custLinFactNeighborX="-14447" custLinFactNeighborY="-100000"/>
      <dgm:spPr/>
    </dgm:pt>
    <dgm:pt modelId="{9C1A3F49-D44C-43BA-9329-C10D75E6508F}" type="pres">
      <dgm:prSet presAssocID="{20B99719-5C38-4AE3-9F55-455E7861BF30}" presName="iconRect" presStyleLbl="node1" presStyleIdx="0" presStyleCnt="4" custLinFactY="-90462" custLinFactNeighborX="-5685" custLinFactNeighborY="-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884D22A-BCEA-4766-B25B-D5658C41C8E0}" type="pres">
      <dgm:prSet presAssocID="{20B99719-5C38-4AE3-9F55-455E7861BF30}" presName="spaceRect" presStyleCnt="0"/>
      <dgm:spPr/>
    </dgm:pt>
    <dgm:pt modelId="{B9764AEA-6E86-49C0-B1C9-8E50C5FE8F81}" type="pres">
      <dgm:prSet presAssocID="{20B99719-5C38-4AE3-9F55-455E7861BF30}" presName="textRect" presStyleLbl="revTx" presStyleIdx="0" presStyleCnt="4">
        <dgm:presLayoutVars>
          <dgm:chMax val="1"/>
          <dgm:chPref val="1"/>
        </dgm:presLayoutVars>
      </dgm:prSet>
      <dgm:spPr/>
    </dgm:pt>
    <dgm:pt modelId="{0DF1249C-9E34-48B2-A57A-DE73F5443C11}" type="pres">
      <dgm:prSet presAssocID="{CC71E522-3791-40E8-B15E-55BBB031DE5D}" presName="sibTrans" presStyleLbl="sibTrans2D1" presStyleIdx="0" presStyleCnt="0"/>
      <dgm:spPr/>
    </dgm:pt>
    <dgm:pt modelId="{6D4201D4-49B3-4D66-B7FD-DA8D32DA8C9C}" type="pres">
      <dgm:prSet presAssocID="{CF18B4F8-9801-4BBF-9A23-AE008F5BF537}" presName="compNode" presStyleCnt="0"/>
      <dgm:spPr/>
    </dgm:pt>
    <dgm:pt modelId="{B8452317-14F1-48FD-B4A7-3B827EC8C806}" type="pres">
      <dgm:prSet presAssocID="{CF18B4F8-9801-4BBF-9A23-AE008F5BF537}" presName="iconBgRect" presStyleLbl="bgShp" presStyleIdx="1" presStyleCnt="4" custLinFactNeighborY="-98927"/>
      <dgm:spPr/>
    </dgm:pt>
    <dgm:pt modelId="{E557E166-88AD-4066-BC33-9B67C999FED1}" type="pres">
      <dgm:prSet presAssocID="{CF18B4F8-9801-4BBF-9A23-AE008F5BF537}" presName="iconRect" presStyleLbl="node1" presStyleIdx="1" presStyleCnt="4" custLinFactY="-64878" custLinFactNeighborX="2843" custLinFactNeighborY="-10000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3F35925-99DA-4852-8D92-3C41DAD8CF5F}" type="pres">
      <dgm:prSet presAssocID="{CF18B4F8-9801-4BBF-9A23-AE008F5BF537}" presName="spaceRect" presStyleCnt="0"/>
      <dgm:spPr/>
    </dgm:pt>
    <dgm:pt modelId="{3FE283C6-12A5-466A-A466-17CAF3268394}" type="pres">
      <dgm:prSet presAssocID="{CF18B4F8-9801-4BBF-9A23-AE008F5BF537}" presName="textRect" presStyleLbl="revTx" presStyleIdx="1" presStyleCnt="4">
        <dgm:presLayoutVars>
          <dgm:chMax val="1"/>
          <dgm:chPref val="1"/>
        </dgm:presLayoutVars>
      </dgm:prSet>
      <dgm:spPr/>
    </dgm:pt>
    <dgm:pt modelId="{B25A67F4-21EB-4B4F-9618-BA1838CD127F}" type="pres">
      <dgm:prSet presAssocID="{EA8E00CD-9AA8-4A8B-99D3-BA8176E6AACB}" presName="sibTrans" presStyleLbl="sibTrans2D1" presStyleIdx="0" presStyleCnt="0"/>
      <dgm:spPr/>
    </dgm:pt>
    <dgm:pt modelId="{653B057A-A3E8-438E-9443-32BFD32DAF15}" type="pres">
      <dgm:prSet presAssocID="{CBF89073-3186-4D90-BBFB-913E85CCD44F}" presName="compNode" presStyleCnt="0"/>
      <dgm:spPr/>
    </dgm:pt>
    <dgm:pt modelId="{C573CF77-CA27-422C-B1CF-0A30563EDFA7}" type="pres">
      <dgm:prSet presAssocID="{CBF89073-3186-4D90-BBFB-913E85CCD44F}" presName="iconBgRect" presStyleLbl="bgShp" presStyleIdx="2" presStyleCnt="4"/>
      <dgm:spPr/>
    </dgm:pt>
    <dgm:pt modelId="{AC85FEFA-968A-4E43-BE36-C2811A92A154}" type="pres">
      <dgm:prSet presAssocID="{CBF89073-3186-4D90-BBFB-913E85CCD44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08DE82BE-2A8F-4D52-B2AA-DBA28B705057}" type="pres">
      <dgm:prSet presAssocID="{CBF89073-3186-4D90-BBFB-913E85CCD44F}" presName="spaceRect" presStyleCnt="0"/>
      <dgm:spPr/>
    </dgm:pt>
    <dgm:pt modelId="{D39DF937-7CBC-490A-9652-9430269E6E38}" type="pres">
      <dgm:prSet presAssocID="{CBF89073-3186-4D90-BBFB-913E85CCD44F}" presName="textRect" presStyleLbl="revTx" presStyleIdx="2" presStyleCnt="4">
        <dgm:presLayoutVars>
          <dgm:chMax val="1"/>
          <dgm:chPref val="1"/>
        </dgm:presLayoutVars>
      </dgm:prSet>
      <dgm:spPr/>
    </dgm:pt>
    <dgm:pt modelId="{42971613-D879-EB49-8106-D2992ACCA701}" type="pres">
      <dgm:prSet presAssocID="{57ADB47C-DD22-46A5-B83C-6CC398DBDA22}" presName="sibTrans" presStyleLbl="sibTrans2D1" presStyleIdx="0" presStyleCnt="0"/>
      <dgm:spPr/>
    </dgm:pt>
    <dgm:pt modelId="{72E7C4AF-F299-6B47-95BD-710709B1B933}" type="pres">
      <dgm:prSet presAssocID="{52E538E6-29B4-4D8E-A7FD-48B9FD27C98F}" presName="compNode" presStyleCnt="0"/>
      <dgm:spPr/>
    </dgm:pt>
    <dgm:pt modelId="{2D5E58AF-0160-6248-A28E-4DD07A168790}" type="pres">
      <dgm:prSet presAssocID="{52E538E6-29B4-4D8E-A7FD-48B9FD27C98F}" presName="iconBgRect" presStyleLbl="bgShp" presStyleIdx="3" presStyleCnt="4"/>
      <dgm:spPr/>
    </dgm:pt>
    <dgm:pt modelId="{0A7121E6-B3BC-854B-97B3-A25189605A0C}" type="pres">
      <dgm:prSet presAssocID="{52E538E6-29B4-4D8E-A7FD-48B9FD27C98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304F5C47-320A-1642-ABB6-B33CCF6224B0}" type="pres">
      <dgm:prSet presAssocID="{52E538E6-29B4-4D8E-A7FD-48B9FD27C98F}" presName="spaceRect" presStyleCnt="0"/>
      <dgm:spPr/>
    </dgm:pt>
    <dgm:pt modelId="{1EC6DB1D-7901-8144-8AB9-CE80A7CE5900}" type="pres">
      <dgm:prSet presAssocID="{52E538E6-29B4-4D8E-A7FD-48B9FD27C98F}" presName="textRect" presStyleLbl="revTx" presStyleIdx="3" presStyleCnt="4" custLinFactNeighborX="-699" custLinFactNeighborY="-1649">
        <dgm:presLayoutVars>
          <dgm:chMax val="1"/>
          <dgm:chPref val="1"/>
        </dgm:presLayoutVars>
      </dgm:prSet>
      <dgm:spPr/>
    </dgm:pt>
  </dgm:ptLst>
  <dgm:cxnLst>
    <dgm:cxn modelId="{B2C5DD01-1C66-4848-B15A-49FB6A1BF7DB}" type="presOf" srcId="{CC71E522-3791-40E8-B15E-55BBB031DE5D}" destId="{0DF1249C-9E34-48B2-A57A-DE73F5443C11}" srcOrd="0" destOrd="0" presId="urn:microsoft.com/office/officeart/2018/2/layout/IconCircleList"/>
    <dgm:cxn modelId="{11E9CA05-5A60-FF41-A256-57A135DDCE5D}" type="presOf" srcId="{20B99719-5C38-4AE3-9F55-455E7861BF30}" destId="{B9764AEA-6E86-49C0-B1C9-8E50C5FE8F81}" srcOrd="0" destOrd="0" presId="urn:microsoft.com/office/officeart/2018/2/layout/IconCircleList"/>
    <dgm:cxn modelId="{2083D01E-0A3F-443E-BC07-7446E37F97A8}" srcId="{351A446A-C7A6-425B-8B87-0CF6CA0474DA}" destId="{CBF89073-3186-4D90-BBFB-913E85CCD44F}" srcOrd="2" destOrd="0" parTransId="{D7A0F68B-D756-4BE8-8D3E-8C954264FB8D}" sibTransId="{57ADB47C-DD22-46A5-B83C-6CC398DBDA22}"/>
    <dgm:cxn modelId="{1C53F933-39F7-4A97-A815-4DB13B264DAD}" srcId="{351A446A-C7A6-425B-8B87-0CF6CA0474DA}" destId="{52E538E6-29B4-4D8E-A7FD-48B9FD27C98F}" srcOrd="3" destOrd="0" parTransId="{1875100A-C88A-406E-AF6D-4F65830C5A3E}" sibTransId="{63D234CB-ABEA-4D29-A98B-A12E576FE8C0}"/>
    <dgm:cxn modelId="{B051A95E-1CA2-DE46-B157-654703D985A7}" type="presOf" srcId="{CBF89073-3186-4D90-BBFB-913E85CCD44F}" destId="{D39DF937-7CBC-490A-9652-9430269E6E38}" srcOrd="0" destOrd="0" presId="urn:microsoft.com/office/officeart/2018/2/layout/IconCircleList"/>
    <dgm:cxn modelId="{EA5E0162-CB3E-984F-9203-94EC204B050A}" type="presOf" srcId="{57ADB47C-DD22-46A5-B83C-6CC398DBDA22}" destId="{42971613-D879-EB49-8106-D2992ACCA701}" srcOrd="0" destOrd="0" presId="urn:microsoft.com/office/officeart/2018/2/layout/IconCircleList"/>
    <dgm:cxn modelId="{954A34A6-336D-4041-963A-F9F184151ACA}" type="presOf" srcId="{52E538E6-29B4-4D8E-A7FD-48B9FD27C98F}" destId="{1EC6DB1D-7901-8144-8AB9-CE80A7CE5900}" srcOrd="0" destOrd="0" presId="urn:microsoft.com/office/officeart/2018/2/layout/IconCircleList"/>
    <dgm:cxn modelId="{A30708A9-D147-49DD-AFF9-BDA4EA2D7D5B}" srcId="{351A446A-C7A6-425B-8B87-0CF6CA0474DA}" destId="{20B99719-5C38-4AE3-9F55-455E7861BF30}" srcOrd="0" destOrd="0" parTransId="{FD3BB802-BD98-4510-8927-92CA56D6DA98}" sibTransId="{CC71E522-3791-40E8-B15E-55BBB031DE5D}"/>
    <dgm:cxn modelId="{C0BF09CE-2EB9-C44C-BEB4-33CA1581E459}" type="presOf" srcId="{CF18B4F8-9801-4BBF-9A23-AE008F5BF537}" destId="{3FE283C6-12A5-466A-A466-17CAF3268394}" srcOrd="0" destOrd="0" presId="urn:microsoft.com/office/officeart/2018/2/layout/IconCircleList"/>
    <dgm:cxn modelId="{994541D3-D899-4663-9B82-3627431E5F81}" srcId="{351A446A-C7A6-425B-8B87-0CF6CA0474DA}" destId="{CF18B4F8-9801-4BBF-9A23-AE008F5BF537}" srcOrd="1" destOrd="0" parTransId="{2AA47E2D-B462-47C8-8CD1-07943C709EF5}" sibTransId="{EA8E00CD-9AA8-4A8B-99D3-BA8176E6AACB}"/>
    <dgm:cxn modelId="{22A398D3-D3C6-47B6-83CB-E7C9F8A06BC3}" type="presOf" srcId="{351A446A-C7A6-425B-8B87-0CF6CA0474DA}" destId="{B34F336A-07A2-4255-9191-10400EE7DD15}" srcOrd="0" destOrd="0" presId="urn:microsoft.com/office/officeart/2018/2/layout/IconCircleList"/>
    <dgm:cxn modelId="{F1A69CF2-D4B6-9C40-A896-266234A9288E}" type="presOf" srcId="{EA8E00CD-9AA8-4A8B-99D3-BA8176E6AACB}" destId="{B25A67F4-21EB-4B4F-9618-BA1838CD127F}" srcOrd="0" destOrd="0" presId="urn:microsoft.com/office/officeart/2018/2/layout/IconCircleList"/>
    <dgm:cxn modelId="{1494BAC2-9D80-124E-8384-FD2F2F21D9C6}" type="presParOf" srcId="{B34F336A-07A2-4255-9191-10400EE7DD15}" destId="{4D631863-D3D1-4784-9C7A-0E410CEFC230}" srcOrd="0" destOrd="0" presId="urn:microsoft.com/office/officeart/2018/2/layout/IconCircleList"/>
    <dgm:cxn modelId="{2E5DD54E-8A28-CD4A-881F-0D829AF3926B}" type="presParOf" srcId="{4D631863-D3D1-4784-9C7A-0E410CEFC230}" destId="{933D2041-EB0D-4DC6-9C7E-F0313ADED9F4}" srcOrd="0" destOrd="0" presId="urn:microsoft.com/office/officeart/2018/2/layout/IconCircleList"/>
    <dgm:cxn modelId="{69D9EF15-94E5-7745-8CC3-4DCFFE71B963}" type="presParOf" srcId="{933D2041-EB0D-4DC6-9C7E-F0313ADED9F4}" destId="{CC048841-50B6-4173-9D6E-B2BF01C44FA2}" srcOrd="0" destOrd="0" presId="urn:microsoft.com/office/officeart/2018/2/layout/IconCircleList"/>
    <dgm:cxn modelId="{CFD1D8EE-6836-F840-A07B-2E409143CEAD}" type="presParOf" srcId="{933D2041-EB0D-4DC6-9C7E-F0313ADED9F4}" destId="{9C1A3F49-D44C-43BA-9329-C10D75E6508F}" srcOrd="1" destOrd="0" presId="urn:microsoft.com/office/officeart/2018/2/layout/IconCircleList"/>
    <dgm:cxn modelId="{46D6DF22-97E4-B748-96A0-7CB614876940}" type="presParOf" srcId="{933D2041-EB0D-4DC6-9C7E-F0313ADED9F4}" destId="{C884D22A-BCEA-4766-B25B-D5658C41C8E0}" srcOrd="2" destOrd="0" presId="urn:microsoft.com/office/officeart/2018/2/layout/IconCircleList"/>
    <dgm:cxn modelId="{2733D8AB-A240-8148-8FBC-DA64CF3F10E1}" type="presParOf" srcId="{933D2041-EB0D-4DC6-9C7E-F0313ADED9F4}" destId="{B9764AEA-6E86-49C0-B1C9-8E50C5FE8F81}" srcOrd="3" destOrd="0" presId="urn:microsoft.com/office/officeart/2018/2/layout/IconCircleList"/>
    <dgm:cxn modelId="{1D0A2052-4C51-CC43-A05C-14EFE75979FB}" type="presParOf" srcId="{4D631863-D3D1-4784-9C7A-0E410CEFC230}" destId="{0DF1249C-9E34-48B2-A57A-DE73F5443C11}" srcOrd="1" destOrd="0" presId="urn:microsoft.com/office/officeart/2018/2/layout/IconCircleList"/>
    <dgm:cxn modelId="{654B1CEE-8837-4E4D-B746-BBABE6BFF8C9}" type="presParOf" srcId="{4D631863-D3D1-4784-9C7A-0E410CEFC230}" destId="{6D4201D4-49B3-4D66-B7FD-DA8D32DA8C9C}" srcOrd="2" destOrd="0" presId="urn:microsoft.com/office/officeart/2018/2/layout/IconCircleList"/>
    <dgm:cxn modelId="{66B3EB7A-65A0-7541-A1E8-0CDB7B808C28}" type="presParOf" srcId="{6D4201D4-49B3-4D66-B7FD-DA8D32DA8C9C}" destId="{B8452317-14F1-48FD-B4A7-3B827EC8C806}" srcOrd="0" destOrd="0" presId="urn:microsoft.com/office/officeart/2018/2/layout/IconCircleList"/>
    <dgm:cxn modelId="{99A2C599-C204-E244-9165-23761ED1A42F}" type="presParOf" srcId="{6D4201D4-49B3-4D66-B7FD-DA8D32DA8C9C}" destId="{E557E166-88AD-4066-BC33-9B67C999FED1}" srcOrd="1" destOrd="0" presId="urn:microsoft.com/office/officeart/2018/2/layout/IconCircleList"/>
    <dgm:cxn modelId="{9D5318DB-7771-F047-A0A1-D456A2F05563}" type="presParOf" srcId="{6D4201D4-49B3-4D66-B7FD-DA8D32DA8C9C}" destId="{43F35925-99DA-4852-8D92-3C41DAD8CF5F}" srcOrd="2" destOrd="0" presId="urn:microsoft.com/office/officeart/2018/2/layout/IconCircleList"/>
    <dgm:cxn modelId="{FBDF216A-54C7-5542-ADB1-E1A09AFF7957}" type="presParOf" srcId="{6D4201D4-49B3-4D66-B7FD-DA8D32DA8C9C}" destId="{3FE283C6-12A5-466A-A466-17CAF3268394}" srcOrd="3" destOrd="0" presId="urn:microsoft.com/office/officeart/2018/2/layout/IconCircleList"/>
    <dgm:cxn modelId="{689A972B-A0FB-2B48-884A-1E6A297B8C33}" type="presParOf" srcId="{4D631863-D3D1-4784-9C7A-0E410CEFC230}" destId="{B25A67F4-21EB-4B4F-9618-BA1838CD127F}" srcOrd="3" destOrd="0" presId="urn:microsoft.com/office/officeart/2018/2/layout/IconCircleList"/>
    <dgm:cxn modelId="{D09F139D-8BDC-A14B-8DA3-E4F7B44D3F64}" type="presParOf" srcId="{4D631863-D3D1-4784-9C7A-0E410CEFC230}" destId="{653B057A-A3E8-438E-9443-32BFD32DAF15}" srcOrd="4" destOrd="0" presId="urn:microsoft.com/office/officeart/2018/2/layout/IconCircleList"/>
    <dgm:cxn modelId="{ABDE5DCA-0686-0843-9310-0BE241356436}" type="presParOf" srcId="{653B057A-A3E8-438E-9443-32BFD32DAF15}" destId="{C573CF77-CA27-422C-B1CF-0A30563EDFA7}" srcOrd="0" destOrd="0" presId="urn:microsoft.com/office/officeart/2018/2/layout/IconCircleList"/>
    <dgm:cxn modelId="{BBF5549D-793A-264F-830B-88818A0E6C87}" type="presParOf" srcId="{653B057A-A3E8-438E-9443-32BFD32DAF15}" destId="{AC85FEFA-968A-4E43-BE36-C2811A92A154}" srcOrd="1" destOrd="0" presId="urn:microsoft.com/office/officeart/2018/2/layout/IconCircleList"/>
    <dgm:cxn modelId="{1C3EF37E-D8BF-3143-AB95-7CD747A82D0C}" type="presParOf" srcId="{653B057A-A3E8-438E-9443-32BFD32DAF15}" destId="{08DE82BE-2A8F-4D52-B2AA-DBA28B705057}" srcOrd="2" destOrd="0" presId="urn:microsoft.com/office/officeart/2018/2/layout/IconCircleList"/>
    <dgm:cxn modelId="{1DD7782B-D976-DF47-95E4-E2A18F09F4B2}" type="presParOf" srcId="{653B057A-A3E8-438E-9443-32BFD32DAF15}" destId="{D39DF937-7CBC-490A-9652-9430269E6E38}" srcOrd="3" destOrd="0" presId="urn:microsoft.com/office/officeart/2018/2/layout/IconCircleList"/>
    <dgm:cxn modelId="{5031D963-5489-1F4A-8CFD-9F2C3597965B}" type="presParOf" srcId="{4D631863-D3D1-4784-9C7A-0E410CEFC230}" destId="{42971613-D879-EB49-8106-D2992ACCA701}" srcOrd="5" destOrd="0" presId="urn:microsoft.com/office/officeart/2018/2/layout/IconCircleList"/>
    <dgm:cxn modelId="{E7B49957-94A6-2F4D-B422-3F5A79993200}" type="presParOf" srcId="{4D631863-D3D1-4784-9C7A-0E410CEFC230}" destId="{72E7C4AF-F299-6B47-95BD-710709B1B933}" srcOrd="6" destOrd="0" presId="urn:microsoft.com/office/officeart/2018/2/layout/IconCircleList"/>
    <dgm:cxn modelId="{B4398B2C-BF36-2945-B07F-BF33EF04C7EF}" type="presParOf" srcId="{72E7C4AF-F299-6B47-95BD-710709B1B933}" destId="{2D5E58AF-0160-6248-A28E-4DD07A168790}" srcOrd="0" destOrd="0" presId="urn:microsoft.com/office/officeart/2018/2/layout/IconCircleList"/>
    <dgm:cxn modelId="{61976B43-268E-FA48-B804-C260CC7A550B}" type="presParOf" srcId="{72E7C4AF-F299-6B47-95BD-710709B1B933}" destId="{0A7121E6-B3BC-854B-97B3-A25189605A0C}" srcOrd="1" destOrd="0" presId="urn:microsoft.com/office/officeart/2018/2/layout/IconCircleList"/>
    <dgm:cxn modelId="{DA15607E-8BED-E148-97EB-043D3F4A417B}" type="presParOf" srcId="{72E7C4AF-F299-6B47-95BD-710709B1B933}" destId="{304F5C47-320A-1642-ABB6-B33CCF6224B0}" srcOrd="2" destOrd="0" presId="urn:microsoft.com/office/officeart/2018/2/layout/IconCircleList"/>
    <dgm:cxn modelId="{98EB4425-45CA-DC49-928D-4BAE96ED849E}" type="presParOf" srcId="{72E7C4AF-F299-6B47-95BD-710709B1B933}" destId="{1EC6DB1D-7901-8144-8AB9-CE80A7CE59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48841-50B6-4173-9D6E-B2BF01C44FA2}">
      <dsp:nvSpPr>
        <dsp:cNvPr id="0" name=""/>
        <dsp:cNvSpPr/>
      </dsp:nvSpPr>
      <dsp:spPr>
        <a:xfrm>
          <a:off x="0" y="581792"/>
          <a:ext cx="684681" cy="6846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1A3F49-D44C-43BA-9329-C10D75E6508F}">
      <dsp:nvSpPr>
        <dsp:cNvPr id="0" name=""/>
        <dsp:cNvSpPr/>
      </dsp:nvSpPr>
      <dsp:spPr>
        <a:xfrm>
          <a:off x="136869" y="746383"/>
          <a:ext cx="397115" cy="3971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64AEA-6E86-49C0-B1C9-8E50C5FE8F81}">
      <dsp:nvSpPr>
        <dsp:cNvPr id="0" name=""/>
        <dsp:cNvSpPr/>
      </dsp:nvSpPr>
      <dsp:spPr>
        <a:xfrm>
          <a:off x="847062" y="1358954"/>
          <a:ext cx="1613892" cy="684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Dataset Preparation:</a:t>
          </a:r>
          <a:br>
            <a:rPr lang="en-US" sz="1100" b="0" i="0" kern="1200" dirty="0"/>
          </a:br>
          <a:r>
            <a:rPr lang="en-US" sz="1100" b="0" i="0" kern="1200" dirty="0"/>
            <a:t>Used </a:t>
          </a:r>
          <a:r>
            <a:rPr lang="en-US" sz="1100" b="1" i="0" kern="1200" dirty="0"/>
            <a:t>Fashion-MNIST</a:t>
          </a:r>
          <a:r>
            <a:rPr lang="en-US" sz="1100" b="0" i="0" kern="1200" dirty="0"/>
            <a:t> dataset with </a:t>
          </a:r>
          <a:r>
            <a:rPr lang="en-US" sz="1100" b="1" i="0" kern="1200" dirty="0"/>
            <a:t>70,000 images</a:t>
          </a:r>
          <a:r>
            <a:rPr lang="en-US" sz="1100" b="0" i="0" kern="1200" dirty="0"/>
            <a:t> (28×28 grayscale).</a:t>
          </a:r>
          <a:br>
            <a:rPr lang="en-US" sz="1100" b="0" i="0" kern="1200" dirty="0"/>
          </a:br>
          <a:r>
            <a:rPr lang="en-US" sz="1100" b="0" i="0" kern="1200" dirty="0"/>
            <a:t>Split into </a:t>
          </a:r>
          <a:r>
            <a:rPr lang="en-US" sz="1100" b="1" i="0" kern="1200" dirty="0"/>
            <a:t>Training (50,000)</a:t>
          </a:r>
          <a:r>
            <a:rPr lang="en-US" sz="1100" b="0" i="0" kern="1200" dirty="0"/>
            <a:t>, </a:t>
          </a:r>
          <a:r>
            <a:rPr lang="en-US" sz="1100" b="1" i="0" kern="1200" dirty="0"/>
            <a:t>Validation (10,000)</a:t>
          </a:r>
          <a:r>
            <a:rPr lang="en-US" sz="1100" b="0" i="0" kern="1200" dirty="0"/>
            <a:t>, and </a:t>
          </a:r>
          <a:r>
            <a:rPr lang="en-US" sz="1100" b="1" i="0" kern="1200" dirty="0"/>
            <a:t>Test (10,000)</a:t>
          </a:r>
          <a:r>
            <a:rPr lang="en-US" sz="1100" b="0" i="0" kern="1200" dirty="0"/>
            <a:t> sets.</a:t>
          </a:r>
          <a:br>
            <a:rPr lang="en-US" sz="1100" b="0" i="0" kern="1200" dirty="0"/>
          </a:br>
          <a:r>
            <a:rPr lang="en-US" sz="1100" b="0" i="0" kern="1200" dirty="0"/>
            <a:t>Applied </a:t>
          </a:r>
          <a:r>
            <a:rPr lang="en-US" sz="1100" b="1" i="0" kern="1200" dirty="0"/>
            <a:t>normalization</a:t>
          </a:r>
          <a:r>
            <a:rPr lang="en-US" sz="1100" b="0" i="0" kern="1200" dirty="0"/>
            <a:t> (scaling 0–255 → 0.0–1.0) for stability and faster convergence.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847062" y="1358954"/>
        <a:ext cx="1613892" cy="684681"/>
      </dsp:txXfrm>
    </dsp:sp>
    <dsp:sp modelId="{B8452317-14F1-48FD-B4A7-3B827EC8C806}">
      <dsp:nvSpPr>
        <dsp:cNvPr id="0" name=""/>
        <dsp:cNvSpPr/>
      </dsp:nvSpPr>
      <dsp:spPr>
        <a:xfrm>
          <a:off x="2742163" y="681619"/>
          <a:ext cx="684681" cy="6846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57E166-88AD-4066-BC33-9B67C999FED1}">
      <dsp:nvSpPr>
        <dsp:cNvPr id="0" name=""/>
        <dsp:cNvSpPr/>
      </dsp:nvSpPr>
      <dsp:spPr>
        <a:xfrm>
          <a:off x="2897237" y="847981"/>
          <a:ext cx="397115" cy="3971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283C6-12A5-466A-A466-17CAF3268394}">
      <dsp:nvSpPr>
        <dsp:cNvPr id="0" name=""/>
        <dsp:cNvSpPr/>
      </dsp:nvSpPr>
      <dsp:spPr>
        <a:xfrm>
          <a:off x="3573563" y="1358954"/>
          <a:ext cx="1613892" cy="684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Model Development:</a:t>
          </a:r>
          <a:br>
            <a:rPr lang="en-US" sz="1100" b="0" i="0" kern="1200" dirty="0"/>
          </a:br>
          <a:r>
            <a:rPr lang="en-US" sz="1100" b="0" i="0" kern="1200" dirty="0"/>
            <a:t>Implemented two architectures —&gt; </a:t>
          </a:r>
          <a:r>
            <a:rPr lang="en-US" sz="1100" b="1" i="0" kern="1200" dirty="0"/>
            <a:t>ANN</a:t>
          </a:r>
          <a:r>
            <a:rPr lang="en-US" sz="1100" b="0" i="0" kern="1200" dirty="0"/>
            <a:t> and </a:t>
          </a:r>
          <a:r>
            <a:rPr lang="en-US" sz="1100" b="1" i="0" kern="1200" dirty="0"/>
            <a:t>CNN,</a:t>
          </a:r>
          <a:r>
            <a:rPr lang="en-US" sz="1100" b="0" i="0" kern="1200" dirty="0"/>
            <a:t> for performance comparison.</a:t>
          </a:r>
          <a:br>
            <a:rPr lang="en-US" sz="1100" b="0" i="0" kern="1200" dirty="0"/>
          </a:br>
          <a:r>
            <a:rPr lang="en-US" sz="1100" b="0" i="0" kern="1200" dirty="0"/>
            <a:t>Both trained using </a:t>
          </a:r>
          <a:r>
            <a:rPr lang="en-US" sz="1100" b="1" i="0" kern="1200" dirty="0"/>
            <a:t>Adam Optimizer</a:t>
          </a:r>
          <a:r>
            <a:rPr lang="en-US" sz="1100" b="0" i="0" kern="1200" dirty="0"/>
            <a:t> and </a:t>
          </a:r>
          <a:r>
            <a:rPr lang="en-US" sz="1100" b="1" i="0" kern="1200" dirty="0"/>
            <a:t>Categorical Cross-Entropy</a:t>
          </a:r>
          <a:r>
            <a:rPr lang="en-US" sz="1100" b="0" i="0" kern="1200" dirty="0"/>
            <a:t> loss.</a:t>
          </a:r>
          <a:br>
            <a:rPr lang="en-US" sz="1100" b="0" i="0" kern="1200" dirty="0"/>
          </a:br>
          <a:r>
            <a:rPr lang="en-US" sz="1100" b="0" i="0" kern="1200" dirty="0"/>
            <a:t>Applied </a:t>
          </a:r>
          <a:r>
            <a:rPr lang="en-US" sz="1100" b="1" i="0" kern="1200" dirty="0"/>
            <a:t>Early Stopping (patience = 5)</a:t>
          </a:r>
          <a:r>
            <a:rPr lang="en-US" sz="1100" b="0" i="0" kern="1200" dirty="0"/>
            <a:t> to prevent overfitting.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0" i="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0" i="0" kern="1200" dirty="0"/>
        </a:p>
      </dsp:txBody>
      <dsp:txXfrm>
        <a:off x="3573563" y="1358954"/>
        <a:ext cx="1613892" cy="684681"/>
      </dsp:txXfrm>
    </dsp:sp>
    <dsp:sp modelId="{C573CF77-CA27-422C-B1CF-0A30563EDFA7}">
      <dsp:nvSpPr>
        <dsp:cNvPr id="0" name=""/>
        <dsp:cNvSpPr/>
      </dsp:nvSpPr>
      <dsp:spPr>
        <a:xfrm>
          <a:off x="15662" y="2880788"/>
          <a:ext cx="684681" cy="6846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5FEFA-968A-4E43-BE36-C2811A92A154}">
      <dsp:nvSpPr>
        <dsp:cNvPr id="0" name=""/>
        <dsp:cNvSpPr/>
      </dsp:nvSpPr>
      <dsp:spPr>
        <a:xfrm>
          <a:off x="159445" y="3024571"/>
          <a:ext cx="397115" cy="3971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DF937-7CBC-490A-9652-9430269E6E38}">
      <dsp:nvSpPr>
        <dsp:cNvPr id="0" name=""/>
        <dsp:cNvSpPr/>
      </dsp:nvSpPr>
      <dsp:spPr>
        <a:xfrm>
          <a:off x="847062" y="2880788"/>
          <a:ext cx="1613892" cy="684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i="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i="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Hyperparameter Tuning:</a:t>
          </a:r>
          <a:br>
            <a:rPr lang="en-US" sz="1100" b="0" i="0" kern="1200" dirty="0"/>
          </a:br>
          <a:r>
            <a:rPr lang="en-US" sz="1100" b="0" i="0" kern="1200" dirty="0"/>
            <a:t>Experimented with </a:t>
          </a:r>
          <a:r>
            <a:rPr lang="en-US" sz="1100" b="1" i="0" kern="1200" dirty="0"/>
            <a:t>learning rate (0.001)</a:t>
          </a:r>
          <a:r>
            <a:rPr lang="en-US" sz="1100" b="0" i="0" kern="1200" dirty="0"/>
            <a:t> and </a:t>
          </a:r>
          <a:r>
            <a:rPr lang="en-US" sz="1100" b="1" i="0" kern="1200" dirty="0"/>
            <a:t>batch size (64)</a:t>
          </a:r>
          <a:r>
            <a:rPr lang="en-US" sz="1100" b="0" i="0" kern="1200" dirty="0"/>
            <a:t> for optimal results.</a:t>
          </a:r>
          <a:endParaRPr lang="en-US" sz="1100" kern="1200" dirty="0"/>
        </a:p>
      </dsp:txBody>
      <dsp:txXfrm>
        <a:off x="847062" y="2880788"/>
        <a:ext cx="1613892" cy="684681"/>
      </dsp:txXfrm>
    </dsp:sp>
    <dsp:sp modelId="{2D5E58AF-0160-6248-A28E-4DD07A168790}">
      <dsp:nvSpPr>
        <dsp:cNvPr id="0" name=""/>
        <dsp:cNvSpPr/>
      </dsp:nvSpPr>
      <dsp:spPr>
        <a:xfrm>
          <a:off x="2742163" y="2880788"/>
          <a:ext cx="684681" cy="6846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7121E6-B3BC-854B-97B3-A25189605A0C}">
      <dsp:nvSpPr>
        <dsp:cNvPr id="0" name=""/>
        <dsp:cNvSpPr/>
      </dsp:nvSpPr>
      <dsp:spPr>
        <a:xfrm>
          <a:off x="2885947" y="3024571"/>
          <a:ext cx="397115" cy="3971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6DB1D-7901-8144-8AB9-CE80A7CE5900}">
      <dsp:nvSpPr>
        <dsp:cNvPr id="0" name=""/>
        <dsp:cNvSpPr/>
      </dsp:nvSpPr>
      <dsp:spPr>
        <a:xfrm>
          <a:off x="3562282" y="2869498"/>
          <a:ext cx="1613892" cy="684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i="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b="1" i="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Tools &amp; Environment:</a:t>
          </a:r>
          <a:br>
            <a:rPr lang="en-US" sz="1100" b="0" i="0" kern="1200" dirty="0"/>
          </a:br>
          <a:r>
            <a:rPr lang="en-US" sz="1100" b="0" i="0" kern="1200" dirty="0"/>
            <a:t>Implemented in </a:t>
          </a:r>
          <a:r>
            <a:rPr lang="en-US" sz="1100" b="1" i="0" kern="1200" dirty="0"/>
            <a:t>Python (TensorFlow/</a:t>
          </a:r>
          <a:r>
            <a:rPr lang="en-US" sz="1100" b="1" i="0" kern="1200" dirty="0" err="1"/>
            <a:t>Keras</a:t>
          </a:r>
          <a:r>
            <a:rPr lang="en-US" sz="1100" b="1" i="0" kern="1200" dirty="0"/>
            <a:t>)</a:t>
          </a:r>
          <a:r>
            <a:rPr lang="en-US" sz="1100" b="0" i="0" kern="1200" dirty="0"/>
            <a:t> on a GPU-supported environment.</a:t>
          </a:r>
          <a:endParaRPr lang="en-US" sz="1100" kern="1200" dirty="0"/>
        </a:p>
      </dsp:txBody>
      <dsp:txXfrm>
        <a:off x="3562282" y="2869498"/>
        <a:ext cx="1613892" cy="6846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523C90F0-C0BC-95AF-076D-C31D9493E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6B6BB4D0-E392-287A-A7C2-6B54608B68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A494751D-BABC-166A-24BA-1F00ABD89E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4038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3821935" y="3585819"/>
            <a:ext cx="4548130" cy="2462213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IN" sz="2000" b="1" dirty="0">
                <a:solidFill>
                  <a:srgbClr val="003365"/>
                </a:solidFill>
                <a:latin typeface="Merriweather" pitchFamily="2" charset="77"/>
              </a:rPr>
              <a:t>Name : Bhargav Sai Devineni </a:t>
            </a:r>
            <a:br>
              <a:rPr lang="en-IN" sz="2000" b="1" dirty="0">
                <a:solidFill>
                  <a:srgbClr val="003365"/>
                </a:solidFill>
                <a:latin typeface="Merriweather" pitchFamily="2" charset="77"/>
              </a:rPr>
            </a:br>
            <a:r>
              <a:rPr lang="en-IN" sz="2000" b="1" dirty="0">
                <a:solidFill>
                  <a:srgbClr val="003365"/>
                </a:solidFill>
                <a:latin typeface="Merriweather" pitchFamily="2" charset="77"/>
              </a:rPr>
              <a:t>Student ID: P2906544</a:t>
            </a:r>
            <a:br>
              <a:rPr lang="en-IN" sz="2000" dirty="0">
                <a:solidFill>
                  <a:srgbClr val="003365"/>
                </a:solidFill>
                <a:latin typeface="Merriweather" pitchFamily="2" charset="77"/>
              </a:rPr>
            </a:br>
            <a:r>
              <a:rPr lang="en-IN" sz="2000" b="1" dirty="0">
                <a:solidFill>
                  <a:srgbClr val="003365"/>
                </a:solidFill>
                <a:latin typeface="Merriweather" pitchFamily="2" charset="77"/>
              </a:rPr>
              <a:t>Course:</a:t>
            </a:r>
            <a:r>
              <a:rPr lang="en-IN" sz="2000" dirty="0">
                <a:solidFill>
                  <a:srgbClr val="003365"/>
                </a:solidFill>
                <a:latin typeface="Merriweather" pitchFamily="2" charset="77"/>
              </a:rPr>
              <a:t> M. Sc Artificial Intelligence</a:t>
            </a:r>
            <a:br>
              <a:rPr lang="en-IN" sz="2000" dirty="0">
                <a:solidFill>
                  <a:srgbClr val="003365"/>
                </a:solidFill>
                <a:latin typeface="Merriweather" pitchFamily="2" charset="77"/>
              </a:rPr>
            </a:br>
            <a:br>
              <a:rPr lang="en-IN" sz="2000" dirty="0">
                <a:solidFill>
                  <a:srgbClr val="003365"/>
                </a:solidFill>
                <a:latin typeface="Merriweather" pitchFamily="2" charset="77"/>
              </a:rPr>
            </a:br>
            <a:endParaRPr lang="en-IN" sz="2000" dirty="0">
              <a:solidFill>
                <a:srgbClr val="003365"/>
              </a:solidFill>
              <a:latin typeface="Merriweather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DF5A35-A803-1A03-2D77-5CED43F36286}"/>
              </a:ext>
            </a:extLst>
          </p:cNvPr>
          <p:cNvSpPr/>
          <p:nvPr/>
        </p:nvSpPr>
        <p:spPr>
          <a:xfrm>
            <a:off x="2223912" y="857954"/>
            <a:ext cx="7597422" cy="1986842"/>
          </a:xfrm>
          <a:prstGeom prst="rect">
            <a:avLst/>
          </a:prstGeom>
          <a:solidFill>
            <a:srgbClr val="F3F0DF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160000"/>
              </a:lnSpc>
            </a:pPr>
            <a:r>
              <a:rPr lang="en-US" sz="3200" b="1" dirty="0">
                <a:solidFill>
                  <a:srgbClr val="003365"/>
                </a:solidFill>
                <a:latin typeface="Merriweather" pitchFamily="2" charset="77"/>
              </a:rPr>
              <a:t>Title:</a:t>
            </a:r>
            <a:r>
              <a:rPr lang="en-US" sz="3200" dirty="0">
                <a:solidFill>
                  <a:srgbClr val="003365"/>
                </a:solidFill>
                <a:latin typeface="Merriweather" pitchFamily="2" charset="77"/>
              </a:rPr>
              <a:t> </a:t>
            </a:r>
            <a:r>
              <a:rPr lang="en-IN" sz="3200" dirty="0">
                <a:solidFill>
                  <a:srgbClr val="003365"/>
                </a:solidFill>
                <a:latin typeface="Merriweather" pitchFamily="2" charset="77"/>
              </a:rPr>
              <a:t>Neural Network Classification of Fashion-MNIST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C65123-A29D-B78C-0E52-EAA8C99E6EEA}"/>
              </a:ext>
            </a:extLst>
          </p:cNvPr>
          <p:cNvCxnSpPr>
            <a:cxnSpLocks/>
          </p:cNvCxnSpPr>
          <p:nvPr/>
        </p:nvCxnSpPr>
        <p:spPr>
          <a:xfrm>
            <a:off x="4759131" y="3280890"/>
            <a:ext cx="229164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1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3280648" y="470960"/>
            <a:ext cx="563070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 sz="1050" dirty="0"/>
          </a:p>
        </p:txBody>
      </p:sp>
      <p:sp>
        <p:nvSpPr>
          <p:cNvPr id="92" name="Google Shape;92;p14"/>
          <p:cNvSpPr txBox="1"/>
          <p:nvPr/>
        </p:nvSpPr>
        <p:spPr>
          <a:xfrm>
            <a:off x="1420428" y="1402093"/>
            <a:ext cx="9525740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rgbClr val="003365"/>
                </a:solidFill>
                <a:latin typeface="Merriweather" pitchFamily="2" charset="77"/>
              </a:rPr>
              <a:t>Background: </a:t>
            </a:r>
            <a:r>
              <a:rPr lang="en-US" altLang="en-US" sz="2200" dirty="0">
                <a:solidFill>
                  <a:srgbClr val="003365"/>
                </a:solidFill>
                <a:latin typeface="Merriweather" pitchFamily="2" charset="77"/>
              </a:rPr>
              <a:t>Fashion-MNIST is a benchmark dataset of clothing images used to evaluate image classification models in machine learning.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rgbClr val="003365"/>
                </a:solidFill>
                <a:latin typeface="Merriweather" pitchFamily="2" charset="77"/>
              </a:rPr>
              <a:t>Why This Topic: </a:t>
            </a:r>
            <a:r>
              <a:rPr lang="en-US" altLang="en-US" sz="2200" dirty="0">
                <a:solidFill>
                  <a:srgbClr val="003365"/>
                </a:solidFill>
                <a:latin typeface="Merriweather" pitchFamily="2" charset="77"/>
              </a:rPr>
              <a:t>Comparing </a:t>
            </a:r>
            <a:r>
              <a:rPr lang="en-US" altLang="en-US" sz="2200" b="1" dirty="0">
                <a:solidFill>
                  <a:srgbClr val="003365"/>
                </a:solidFill>
                <a:latin typeface="Merriweather" pitchFamily="2" charset="77"/>
              </a:rPr>
              <a:t>ANN</a:t>
            </a:r>
            <a:r>
              <a:rPr lang="en-US" altLang="en-US" sz="2200" dirty="0">
                <a:solidFill>
                  <a:srgbClr val="003365"/>
                </a:solidFill>
                <a:latin typeface="Merriweather" pitchFamily="2" charset="77"/>
              </a:rPr>
              <a:t> and </a:t>
            </a:r>
            <a:r>
              <a:rPr lang="en-US" altLang="en-US" sz="2200" b="1" dirty="0">
                <a:solidFill>
                  <a:srgbClr val="003365"/>
                </a:solidFill>
                <a:latin typeface="Merriweather" pitchFamily="2" charset="77"/>
              </a:rPr>
              <a:t>CNN</a:t>
            </a:r>
            <a:r>
              <a:rPr lang="en-US" altLang="en-US" sz="2200" dirty="0">
                <a:solidFill>
                  <a:srgbClr val="003365"/>
                </a:solidFill>
                <a:latin typeface="Merriweather" pitchFamily="2" charset="77"/>
              </a:rPr>
              <a:t> helps understand how network architecture impacts performance on visual data.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rgbClr val="003365"/>
                </a:solidFill>
                <a:latin typeface="Merriweather" pitchFamily="2" charset="77"/>
              </a:rPr>
              <a:t>Problem Statement:	</a:t>
            </a:r>
            <a:r>
              <a:rPr lang="en-US" altLang="en-US" sz="2200" dirty="0">
                <a:solidFill>
                  <a:srgbClr val="003365"/>
                </a:solidFill>
                <a:latin typeface="Merriweather" pitchFamily="2" charset="77"/>
              </a:rPr>
              <a:t>Identify which model ANN or CNN achieves </a:t>
            </a:r>
            <a:r>
              <a:rPr lang="en-US" altLang="en-US" sz="2200" b="1" dirty="0">
                <a:solidFill>
                  <a:srgbClr val="003365"/>
                </a:solidFill>
                <a:latin typeface="Merriweather" pitchFamily="2" charset="77"/>
              </a:rPr>
              <a:t>higher accuracy and better generalization</a:t>
            </a:r>
            <a:r>
              <a:rPr lang="en-US" altLang="en-US" sz="2200" dirty="0">
                <a:solidFill>
                  <a:srgbClr val="003365"/>
                </a:solidFill>
                <a:latin typeface="Merriweather" pitchFamily="2" charset="77"/>
              </a:rPr>
              <a:t> for Fashion-MNIST image classification.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5FEA21-AAE9-9E97-C611-DE235D420FA5}"/>
              </a:ext>
            </a:extLst>
          </p:cNvPr>
          <p:cNvCxnSpPr>
            <a:cxnSpLocks/>
          </p:cNvCxnSpPr>
          <p:nvPr/>
        </p:nvCxnSpPr>
        <p:spPr>
          <a:xfrm>
            <a:off x="4950178" y="1148068"/>
            <a:ext cx="229164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821FB911-A8D7-BE13-6B9D-EA211587A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>
            <a:extLst>
              <a:ext uri="{FF2B5EF4-FFF2-40B4-BE49-F238E27FC236}">
                <a16:creationId xmlns:a16="http://schemas.microsoft.com/office/drawing/2014/main" id="{BAA4CFE4-EBD6-17E4-5479-C9F77A1A55F3}"/>
              </a:ext>
            </a:extLst>
          </p:cNvPr>
          <p:cNvSpPr txBox="1"/>
          <p:nvPr/>
        </p:nvSpPr>
        <p:spPr>
          <a:xfrm>
            <a:off x="3190335" y="191706"/>
            <a:ext cx="563070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003365"/>
                </a:solidFill>
                <a:latin typeface="Merriweather" pitchFamily="2" charset="77"/>
              </a:rPr>
              <a:t>Objective &amp; Goals</a:t>
            </a:r>
            <a:endParaRPr sz="4400" b="1" dirty="0">
              <a:solidFill>
                <a:srgbClr val="003365"/>
              </a:solidFill>
              <a:latin typeface="Merriweather" pitchFamily="2" charset="77"/>
            </a:endParaRPr>
          </a:p>
        </p:txBody>
      </p:sp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A9560976-3315-E4AF-C2B7-7A0FC67433AF}"/>
              </a:ext>
            </a:extLst>
          </p:cNvPr>
          <p:cNvSpPr txBox="1"/>
          <p:nvPr/>
        </p:nvSpPr>
        <p:spPr>
          <a:xfrm>
            <a:off x="1096976" y="1074362"/>
            <a:ext cx="9727108" cy="558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003365"/>
                </a:solidFill>
                <a:latin typeface="Merriweather" pitchFamily="2" charset="77"/>
              </a:rPr>
              <a:t>Compare</a:t>
            </a:r>
            <a:r>
              <a:rPr lang="en-IN" sz="2200" dirty="0">
                <a:solidFill>
                  <a:srgbClr val="003365"/>
                </a:solidFill>
                <a:latin typeface="Merriweather" pitchFamily="2" charset="77"/>
              </a:rPr>
              <a:t> the performance of </a:t>
            </a:r>
            <a:r>
              <a:rPr lang="en-IN" sz="2200" b="1" dirty="0">
                <a:solidFill>
                  <a:srgbClr val="003365"/>
                </a:solidFill>
                <a:latin typeface="Merriweather" pitchFamily="2" charset="77"/>
              </a:rPr>
              <a:t>ANN</a:t>
            </a:r>
            <a:r>
              <a:rPr lang="en-IN" sz="2200" dirty="0">
                <a:solidFill>
                  <a:srgbClr val="003365"/>
                </a:solidFill>
                <a:latin typeface="Merriweather" pitchFamily="2" charset="77"/>
              </a:rPr>
              <a:t> and </a:t>
            </a:r>
            <a:r>
              <a:rPr lang="en-IN" sz="2200" b="1" dirty="0">
                <a:solidFill>
                  <a:srgbClr val="003365"/>
                </a:solidFill>
                <a:latin typeface="Merriweather" pitchFamily="2" charset="77"/>
              </a:rPr>
              <a:t>CNN</a:t>
            </a:r>
            <a:r>
              <a:rPr lang="en-IN" sz="2200" dirty="0">
                <a:solidFill>
                  <a:srgbClr val="003365"/>
                </a:solidFill>
                <a:latin typeface="Merriweather" pitchFamily="2" charset="77"/>
              </a:rPr>
              <a:t> architectures on the Fashion-MNIST dataset.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003365"/>
                </a:solidFill>
                <a:latin typeface="Merriweather" pitchFamily="2" charset="77"/>
              </a:rPr>
              <a:t>Analyze</a:t>
            </a:r>
            <a:r>
              <a:rPr lang="en-IN" sz="2200" dirty="0">
                <a:solidFill>
                  <a:srgbClr val="003365"/>
                </a:solidFill>
                <a:latin typeface="Merriweather" pitchFamily="2" charset="77"/>
              </a:rPr>
              <a:t> how model structure affects accuracy, convergence speed, and generalization.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003365"/>
                </a:solidFill>
                <a:latin typeface="Merriweather" pitchFamily="2" charset="77"/>
              </a:rPr>
              <a:t>Demonstrate</a:t>
            </a:r>
            <a:r>
              <a:rPr lang="en-IN" sz="2200" dirty="0">
                <a:solidFill>
                  <a:srgbClr val="003365"/>
                </a:solidFill>
                <a:latin typeface="Merriweather" pitchFamily="2" charset="77"/>
              </a:rPr>
              <a:t> the advantages of CNNs for visual pattern recognition tasks.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003365"/>
                </a:solidFill>
                <a:latin typeface="Merriweather" pitchFamily="2" charset="77"/>
              </a:rPr>
              <a:t>Identify</a:t>
            </a:r>
            <a:r>
              <a:rPr lang="en-IN" sz="2200" dirty="0">
                <a:solidFill>
                  <a:srgbClr val="003365"/>
                </a:solidFill>
                <a:latin typeface="Merriweather" pitchFamily="2" charset="77"/>
              </a:rPr>
              <a:t> key factors (like learning rate, batch size, and optimizer) influencing performance.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rgbClr val="003365"/>
                </a:solidFill>
                <a:latin typeface="Merriweather" pitchFamily="2" charset="77"/>
              </a:rPr>
              <a:t>Propose</a:t>
            </a:r>
            <a:r>
              <a:rPr lang="en-IN" sz="2200" dirty="0">
                <a:solidFill>
                  <a:srgbClr val="003365"/>
                </a:solidFill>
                <a:latin typeface="Merriweather" pitchFamily="2" charset="77"/>
              </a:rPr>
              <a:t> improvement strategies such as data augmentation and batch normalization for future enhancement.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003365"/>
              </a:solidFill>
              <a:latin typeface="Merriweather" pitchFamily="2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7E58FDE-7622-C3CE-805C-EF01CBEAF5A8}"/>
              </a:ext>
            </a:extLst>
          </p:cNvPr>
          <p:cNvCxnSpPr>
            <a:cxnSpLocks/>
          </p:cNvCxnSpPr>
          <p:nvPr/>
        </p:nvCxnSpPr>
        <p:spPr>
          <a:xfrm>
            <a:off x="4950178" y="930370"/>
            <a:ext cx="196991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417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5286375" cy="48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428750"/>
            <a:ext cx="5286375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33400" y="394998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</a:t>
            </a:r>
            <a:endParaRPr sz="1800" dirty="0"/>
          </a:p>
        </p:txBody>
      </p:sp>
      <p:pic>
        <p:nvPicPr>
          <p:cNvPr id="4" name="Picture 3" descr="A diagram of a model&#10;&#10;AI-generated content may be incorrect.">
            <a:extLst>
              <a:ext uri="{FF2B5EF4-FFF2-40B4-BE49-F238E27FC236}">
                <a16:creationId xmlns:a16="http://schemas.microsoft.com/office/drawing/2014/main" id="{06423493-1BA7-B848-F72F-F0D643BD2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444" y="1464931"/>
            <a:ext cx="3556000" cy="4785387"/>
          </a:xfrm>
          <a:prstGeom prst="rect">
            <a:avLst/>
          </a:prstGeom>
        </p:spPr>
      </p:pic>
      <p:graphicFrame>
        <p:nvGraphicFramePr>
          <p:cNvPr id="105" name="Google Shape;100;p15">
            <a:extLst>
              <a:ext uri="{FF2B5EF4-FFF2-40B4-BE49-F238E27FC236}">
                <a16:creationId xmlns:a16="http://schemas.microsoft.com/office/drawing/2014/main" id="{86B3CF1D-A32D-B891-33F6-ADBCAD8FE1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6343909"/>
              </p:ext>
            </p:extLst>
          </p:nvPr>
        </p:nvGraphicFramePr>
        <p:xfrm>
          <a:off x="654755" y="1428750"/>
          <a:ext cx="5203119" cy="492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1CDD34-E252-C4A0-4526-F4AADB28E7DC}"/>
              </a:ext>
            </a:extLst>
          </p:cNvPr>
          <p:cNvCxnSpPr>
            <a:cxnSpLocks/>
          </p:cNvCxnSpPr>
          <p:nvPr/>
        </p:nvCxnSpPr>
        <p:spPr>
          <a:xfrm>
            <a:off x="533400" y="1072106"/>
            <a:ext cx="133567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Graphic spid="10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42875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571500" y="1524000"/>
            <a:ext cx="55506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Sequential </a:t>
            </a:r>
            <a:r>
              <a:rPr lang="en-US" sz="2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</a:t>
            </a:r>
            <a:endParaRPr sz="1600" dirty="0"/>
          </a:p>
        </p:txBody>
      </p:sp>
      <p:sp>
        <p:nvSpPr>
          <p:cNvPr id="111" name="Google Shape;111;p16"/>
          <p:cNvSpPr txBox="1"/>
          <p:nvPr/>
        </p:nvSpPr>
        <p:spPr>
          <a:xfrm>
            <a:off x="742950" y="20097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776287" y="1928812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Flatten: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 Converts   (  28  ,   28  ,   1  )   to 784</a:t>
            </a:r>
            <a:endParaRPr sz="1800" dirty="0">
              <a:latin typeface="Merriweather" pitchFamily="2" charset="77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742950" y="24574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776287" y="2376487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Hidden 1: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 Dense (256,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ReLU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Merriweather" pitchFamily="2" charset="77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742950" y="2905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776287" y="2833688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Regularize: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 Dropout (0.2)</a:t>
            </a:r>
            <a:endParaRPr sz="1800" dirty="0">
              <a:latin typeface="Merriweather" pitchFamily="2" charset="77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742950" y="33528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09625" y="3290889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Hidden 2: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 Dense (128,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ReLU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Merriweather" pitchFamily="2" charset="77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742950" y="3800475"/>
            <a:ext cx="666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776287" y="3720343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Output: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 Dense (10,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Softmax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Merriweather" pitchFamily="2" charset="77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5715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Model 1: ANN Architecture</a:t>
            </a:r>
            <a:endParaRPr sz="1800" dirty="0"/>
          </a:p>
        </p:txBody>
      </p:sp>
      <p:pic>
        <p:nvPicPr>
          <p:cNvPr id="5" name="Picture 4" descr="A diagram of a fashion model&#10;&#10;AI-generated content may be incorrect.">
            <a:extLst>
              <a:ext uri="{FF2B5EF4-FFF2-40B4-BE49-F238E27FC236}">
                <a16:creationId xmlns:a16="http://schemas.microsoft.com/office/drawing/2014/main" id="{313DA4D3-2404-77D7-3051-22D80492E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01" y="1450434"/>
            <a:ext cx="4946649" cy="42048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42875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71500" y="152400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Extraction</a:t>
            </a:r>
            <a:endParaRPr sz="1600" dirty="0"/>
          </a:p>
        </p:txBody>
      </p:sp>
      <p:sp>
        <p:nvSpPr>
          <p:cNvPr id="128" name="Google Shape;128;p17"/>
          <p:cNvSpPr txBox="1"/>
          <p:nvPr/>
        </p:nvSpPr>
        <p:spPr>
          <a:xfrm>
            <a:off x="571499" y="3502731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Classification Head</a:t>
            </a:r>
            <a:endParaRPr sz="1600" dirty="0"/>
          </a:p>
        </p:txBody>
      </p:sp>
      <p:pic>
        <p:nvPicPr>
          <p:cNvPr id="129" name="Google Shape;12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447800"/>
            <a:ext cx="5248275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742950" y="20097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09625" y="2009775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Block 1: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 Conv2D (32) →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MaxPool</a:t>
            </a:r>
            <a:endParaRPr sz="1800" dirty="0">
              <a:latin typeface="Merriweather" pitchFamily="2" charset="77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742950" y="24574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09625" y="2457450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Block 2: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 Conv2D (64) →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MaxPool</a:t>
            </a:r>
            <a:endParaRPr sz="1800" dirty="0">
              <a:latin typeface="Merriweather" pitchFamily="2" charset="77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742950" y="2905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09625" y="2905125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Block 3: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 Conv2D (128) →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MaxPool</a:t>
            </a:r>
            <a:endParaRPr sz="1800" dirty="0">
              <a:latin typeface="Merriweather" pitchFamily="2" charset="77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742950" y="38385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22721" y="3838575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Flatten</a:t>
            </a:r>
            <a:endParaRPr sz="1600"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742950" y="42862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09625" y="4286250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Dense (128,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ReLU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600"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742950" y="4733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09625" y="4733925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Dropout (0.5)</a:t>
            </a:r>
            <a:endParaRPr sz="1600"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742950" y="51816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09625" y="5181600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Dense (10,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Softmax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600"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5715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Model 2: CNN Architecture</a:t>
            </a:r>
            <a:endParaRPr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9383" y="1794228"/>
            <a:ext cx="3429000" cy="3617383"/>
          </a:xfrm>
          <a:prstGeom prst="rect">
            <a:avLst/>
          </a:prstGeom>
          <a:pattFill prst="pct5">
            <a:fgClr>
              <a:srgbClr val="F3F0DF"/>
            </a:fgClr>
            <a:bgClr>
              <a:schemeClr val="bg2">
                <a:lumMod val="20000"/>
                <a:lumOff val="80000"/>
              </a:schemeClr>
            </a:bgClr>
          </a:pattFill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499" y="1809738"/>
            <a:ext cx="3429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3617" y="1809738"/>
            <a:ext cx="342900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1650920" y="2505075"/>
            <a:ext cx="127015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Core Setup</a:t>
            </a:r>
            <a:endParaRPr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5220890" y="2505075"/>
            <a:ext cx="175021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Early Stopping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571999" y="3114675"/>
            <a:ext cx="3238499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Monitors '</a:t>
            </a:r>
            <a:r>
              <a:rPr lang="en-US" sz="135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val_loss</a:t>
            </a:r>
            <a:r>
              <a:rPr lang="en-US" sz="13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' with patience  =   5 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Prevents overfitting by restoring best weights.</a:t>
            </a:r>
            <a:endParaRPr dirty="0"/>
          </a:p>
        </p:txBody>
      </p:sp>
      <p:sp>
        <p:nvSpPr>
          <p:cNvPr id="155" name="Google Shape;155;p18"/>
          <p:cNvSpPr txBox="1"/>
          <p:nvPr/>
        </p:nvSpPr>
        <p:spPr>
          <a:xfrm>
            <a:off x="8820864" y="2505075"/>
            <a:ext cx="217027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Model Checkpoint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477250" y="3114675"/>
            <a:ext cx="28575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Saves only the best performing model (lowest 'val_loss') to disk during training.</a:t>
            </a:r>
            <a:endParaRPr/>
          </a:p>
        </p:txBody>
      </p:sp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8133" y="1878013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1004887" y="30384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062037" y="3038475"/>
            <a:ext cx="26384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Adam Optimizer (0.001 LR)</a:t>
            </a:r>
            <a:endParaRPr dirty="0"/>
          </a:p>
        </p:txBody>
      </p:sp>
      <p:sp>
        <p:nvSpPr>
          <p:cNvPr id="160" name="Google Shape;160;p18"/>
          <p:cNvSpPr txBox="1"/>
          <p:nvPr/>
        </p:nvSpPr>
        <p:spPr>
          <a:xfrm>
            <a:off x="1004887" y="32956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062023" y="3295650"/>
            <a:ext cx="2995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Sparse Categorical Crossen</a:t>
            </a:r>
            <a:r>
              <a:rPr lang="en-US" sz="135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tropy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004887" y="35528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004887" y="38100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062037" y="3810000"/>
            <a:ext cx="26384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Batch Size 64</a:t>
            </a:r>
            <a:endParaRPr/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48703" y="19288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05974" y="186319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71500" y="5715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Training Methodology</a:t>
            </a:r>
            <a:endParaRPr sz="1800" dirty="0"/>
          </a:p>
        </p:txBody>
      </p:sp>
      <p:sp>
        <p:nvSpPr>
          <p:cNvPr id="168" name="Google Shape;168;p18"/>
          <p:cNvSpPr txBox="1"/>
          <p:nvPr/>
        </p:nvSpPr>
        <p:spPr>
          <a:xfrm>
            <a:off x="1062023" y="3552813"/>
            <a:ext cx="2995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10 max Epochs</a:t>
            </a:r>
            <a:endParaRPr sz="1350"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80D9BD2-9134-858B-DF17-9DD219465177}"/>
              </a:ext>
            </a:extLst>
          </p:cNvPr>
          <p:cNvCxnSpPr>
            <a:cxnSpLocks/>
          </p:cNvCxnSpPr>
          <p:nvPr/>
        </p:nvCxnSpPr>
        <p:spPr>
          <a:xfrm>
            <a:off x="629434" y="1322252"/>
            <a:ext cx="186121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571500" y="152400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</a:t>
            </a: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Observations</a:t>
            </a:r>
            <a:endParaRPr dirty="0"/>
          </a:p>
        </p:txBody>
      </p:sp>
      <p:sp>
        <p:nvSpPr>
          <p:cNvPr id="174" name="Google Shape;174;p19"/>
          <p:cNvSpPr txBox="1"/>
          <p:nvPr/>
        </p:nvSpPr>
        <p:spPr>
          <a:xfrm>
            <a:off x="742950" y="20097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09625" y="2009775"/>
            <a:ext cx="50482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The CNN (red) achieves higher accuracy and lower loss on the validation set.</a:t>
            </a:r>
            <a:endParaRPr sz="1800" dirty="0">
              <a:latin typeface="Merriweather" pitchFamily="2" charset="77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662869" y="3067943"/>
            <a:ext cx="8008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22721" y="2948868"/>
            <a:ext cx="50482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The ANN (blue) flattens earlier, showing it's less capable of learning complex patterns.</a:t>
            </a:r>
            <a:endParaRPr sz="1800" dirty="0">
              <a:latin typeface="Merriweather" pitchFamily="2" charset="77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 flipV="1">
            <a:off x="682822" y="4473386"/>
            <a:ext cx="6667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809625" y="4331159"/>
            <a:ext cx="50482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Early Stopping halts training when validation loss stops improving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.</a:t>
            </a:r>
            <a:endParaRPr sz="1600" dirty="0">
              <a:latin typeface="Merriweather" pitchFamily="2" charset="77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3383491" y="276620"/>
            <a:ext cx="494876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Training History</a:t>
            </a:r>
            <a:endParaRPr sz="1800" dirty="0"/>
          </a:p>
        </p:txBody>
      </p:sp>
      <p:pic>
        <p:nvPicPr>
          <p:cNvPr id="181" name="Google Shape;181;p19" title="Screenshot 2025-11-05 at 10.49.4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4550" y="1433689"/>
            <a:ext cx="6029325" cy="3900311"/>
          </a:xfrm>
          <a:prstGeom prst="rect">
            <a:avLst/>
          </a:prstGeom>
          <a:solidFill>
            <a:srgbClr val="F3F0DF"/>
          </a:solidFill>
          <a:ln>
            <a:solidFill>
              <a:schemeClr val="accent2">
                <a:alpha val="49914"/>
              </a:schemeClr>
            </a:solidFill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7D529B9-AA73-4550-A2F7-D6713E089350}"/>
              </a:ext>
            </a:extLst>
          </p:cNvPr>
          <p:cNvCxnSpPr>
            <a:cxnSpLocks/>
          </p:cNvCxnSpPr>
          <p:nvPr/>
        </p:nvCxnSpPr>
        <p:spPr>
          <a:xfrm>
            <a:off x="4489430" y="1052287"/>
            <a:ext cx="192878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222" y="1208783"/>
            <a:ext cx="5652654" cy="378439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205222" y="5096641"/>
            <a:ext cx="11049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CNN's spatial awareness provides a significant </a:t>
            </a:r>
            <a:r>
              <a:rPr lang="en-US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2.7% accuracy boost</a:t>
            </a:r>
            <a:r>
              <a:rPr lang="en-US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, making it the clear winner for image-based tasks.</a:t>
            </a:r>
            <a:endParaRPr sz="1100" dirty="0"/>
          </a:p>
        </p:txBody>
      </p:sp>
      <p:sp>
        <p:nvSpPr>
          <p:cNvPr id="189" name="Google Shape;189;p20"/>
          <p:cNvSpPr txBox="1"/>
          <p:nvPr/>
        </p:nvSpPr>
        <p:spPr>
          <a:xfrm>
            <a:off x="475161" y="1276443"/>
            <a:ext cx="220707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ANN Accuracy:</a:t>
            </a:r>
            <a:endParaRPr sz="800" dirty="0"/>
          </a:p>
        </p:txBody>
      </p:sp>
      <p:sp>
        <p:nvSpPr>
          <p:cNvPr id="190" name="Google Shape;190;p20"/>
          <p:cNvSpPr txBox="1"/>
          <p:nvPr/>
        </p:nvSpPr>
        <p:spPr>
          <a:xfrm>
            <a:off x="1578700" y="1189806"/>
            <a:ext cx="547457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87.5%</a:t>
            </a:r>
            <a:endParaRPr sz="100" dirty="0"/>
          </a:p>
        </p:txBody>
      </p:sp>
      <p:sp>
        <p:nvSpPr>
          <p:cNvPr id="191" name="Google Shape;191;p20"/>
          <p:cNvSpPr txBox="1"/>
          <p:nvPr/>
        </p:nvSpPr>
        <p:spPr>
          <a:xfrm>
            <a:off x="3391116" y="1307373"/>
            <a:ext cx="207586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CNN Accuracy:</a:t>
            </a:r>
            <a:endParaRPr sz="800" dirty="0"/>
          </a:p>
        </p:txBody>
      </p:sp>
      <p:sp>
        <p:nvSpPr>
          <p:cNvPr id="192" name="Google Shape;192;p20"/>
          <p:cNvSpPr txBox="1"/>
          <p:nvPr/>
        </p:nvSpPr>
        <p:spPr>
          <a:xfrm>
            <a:off x="4468612" y="1203431"/>
            <a:ext cx="998373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90.8%</a:t>
            </a:r>
            <a:endParaRPr sz="200" dirty="0"/>
          </a:p>
        </p:txBody>
      </p:sp>
      <p:sp>
        <p:nvSpPr>
          <p:cNvPr id="193" name="Google Shape;193;p20"/>
          <p:cNvSpPr txBox="1"/>
          <p:nvPr/>
        </p:nvSpPr>
        <p:spPr>
          <a:xfrm>
            <a:off x="4127530" y="149017"/>
            <a:ext cx="393693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Final Test Accuracy</a:t>
            </a:r>
            <a:endParaRPr sz="11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9C952C-FBD8-E7C6-D480-7CFC0799D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72" y="1504249"/>
            <a:ext cx="4592645" cy="337099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574A0E-2E11-97BB-5BC0-D77DF56AC5CE}"/>
              </a:ext>
            </a:extLst>
          </p:cNvPr>
          <p:cNvCxnSpPr>
            <a:cxnSpLocks/>
          </p:cNvCxnSpPr>
          <p:nvPr/>
        </p:nvCxnSpPr>
        <p:spPr>
          <a:xfrm>
            <a:off x="4836876" y="587093"/>
            <a:ext cx="204199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" name="Google Shape;186;p20" descr="image.png">
            <a:extLst>
              <a:ext uri="{FF2B5EF4-FFF2-40B4-BE49-F238E27FC236}">
                <a16:creationId xmlns:a16="http://schemas.microsoft.com/office/drawing/2014/main" id="{3AA3817D-F4EA-8B42-0D96-2B30DD67C7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7815" y="1189806"/>
            <a:ext cx="5846166" cy="3861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EBB007DC-8162-F865-F634-9AE34FEE9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089" y="1261237"/>
            <a:ext cx="5754335" cy="371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0"/>
      <p:bldP spid="19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/>
        </p:nvSpPr>
        <p:spPr>
          <a:xfrm>
            <a:off x="917840" y="5558372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ANN (MLP)</a:t>
            </a:r>
            <a:endParaRPr dirty="0"/>
          </a:p>
        </p:txBody>
      </p:sp>
      <p:sp>
        <p:nvSpPr>
          <p:cNvPr id="200" name="Google Shape;200;p21"/>
          <p:cNvSpPr txBox="1"/>
          <p:nvPr/>
        </p:nvSpPr>
        <p:spPr>
          <a:xfrm>
            <a:off x="786606" y="5901272"/>
            <a:ext cx="509490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Shows high confusion between similar items like Shirt, T-shirt, Pullover, and Coat.</a:t>
            </a:r>
            <a:endParaRPr dirty="0"/>
          </a:p>
        </p:txBody>
      </p:sp>
      <p:sp>
        <p:nvSpPr>
          <p:cNvPr id="201" name="Google Shape;201;p21"/>
          <p:cNvSpPr txBox="1"/>
          <p:nvPr/>
        </p:nvSpPr>
        <p:spPr>
          <a:xfrm>
            <a:off x="6599767" y="5558372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CNN</a:t>
            </a:r>
            <a:endParaRPr dirty="0"/>
          </a:p>
        </p:txBody>
      </p:sp>
      <p:sp>
        <p:nvSpPr>
          <p:cNvPr id="202" name="Google Shape;202;p21"/>
          <p:cNvSpPr txBox="1"/>
          <p:nvPr/>
        </p:nvSpPr>
        <p:spPr>
          <a:xfrm>
            <a:off x="6599767" y="5930194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much cleaner diagonal. It still struggles with "Shirt" but has clearly separated most other classes.</a:t>
            </a:r>
            <a:endParaRPr dirty="0"/>
          </a:p>
        </p:txBody>
      </p:sp>
      <p:sp>
        <p:nvSpPr>
          <p:cNvPr id="204" name="Google Shape;204;p21"/>
          <p:cNvSpPr txBox="1"/>
          <p:nvPr/>
        </p:nvSpPr>
        <p:spPr>
          <a:xfrm>
            <a:off x="3442229" y="68908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Confusion Matrices</a:t>
            </a:r>
            <a:endParaRPr sz="1600" dirty="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3E3DF241-18A8-C060-DB3B-1659BBC3C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93" y="1051973"/>
            <a:ext cx="4525964" cy="4260895"/>
          </a:xfrm>
          <a:prstGeom prst="rect">
            <a:avLst/>
          </a:prstGeom>
          <a:solidFill>
            <a:srgbClr val="F3F0DF"/>
          </a:solidFill>
          <a:ln>
            <a:solidFill>
              <a:schemeClr val="accent2">
                <a:alpha val="83000"/>
              </a:schemeClr>
            </a:solidFill>
          </a:ln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CD1571EE-81D3-4EE7-A1ED-4B3E4F622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533" y="1029380"/>
            <a:ext cx="4775200" cy="4248119"/>
          </a:xfrm>
          <a:prstGeom prst="rect">
            <a:avLst/>
          </a:prstGeom>
          <a:solidFill>
            <a:srgbClr val="F3F0DF"/>
          </a:solidFill>
          <a:ln>
            <a:solidFill>
              <a:schemeClr val="accent2">
                <a:alpha val="77471"/>
              </a:schemeClr>
            </a:solidFill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B429E09-6DBE-6E8C-ECB3-8E0C08626B9F}"/>
              </a:ext>
            </a:extLst>
          </p:cNvPr>
          <p:cNvCxnSpPr>
            <a:cxnSpLocks/>
          </p:cNvCxnSpPr>
          <p:nvPr/>
        </p:nvCxnSpPr>
        <p:spPr>
          <a:xfrm>
            <a:off x="4979045" y="684461"/>
            <a:ext cx="180493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428750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84901" y="1447800"/>
            <a:ext cx="54165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742950" y="1524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28675" y="1417461"/>
            <a:ext cx="474027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Shirt?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 The ANN confuses this with T-shirts, Pullovers, and Coats. The CNN is better at seeing the collar and buttons.</a:t>
            </a:r>
            <a:endParaRPr sz="1600" dirty="0">
              <a:latin typeface="Merriweather" pitchFamily="2" charset="77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828675" y="2838069"/>
            <a:ext cx="50482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Pullover?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 The ANN struggles with texture. The CNN learns the knitted texture is different from a Coat's flat texture.</a:t>
            </a:r>
            <a:endParaRPr sz="1600" dirty="0">
              <a:latin typeface="Merriweather" pitchFamily="2" charset="77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742950" y="30289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90550" y="4250339"/>
            <a:ext cx="482917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Ankle boot?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 The ANN confuses this with Sneakers. The CNN is better at identifying the key feature: the heel.</a:t>
            </a:r>
            <a:endParaRPr sz="1600" dirty="0">
              <a:latin typeface="Merriweather" pitchFamily="2" charset="77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2097616" y="405098"/>
            <a:ext cx="799676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Analysis: Why the CNN Wins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42875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571500" y="152400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One-vs-Rest AUC</a:t>
            </a:r>
            <a:endParaRPr sz="1600" dirty="0"/>
          </a:p>
        </p:txBody>
      </p:sp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1447800"/>
            <a:ext cx="5248275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 flipV="1">
            <a:off x="693929" y="2200741"/>
            <a:ext cx="4571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226" name="Google Shape;226;p23"/>
          <p:cNvSpPr txBox="1"/>
          <p:nvPr/>
        </p:nvSpPr>
        <p:spPr>
          <a:xfrm>
            <a:off x="809625" y="2009775"/>
            <a:ext cx="50482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This plot shows the CNN's ability to distinguish each class from all other classes.</a:t>
            </a:r>
            <a:endParaRPr sz="1600" dirty="0">
              <a:latin typeface="Merriweather" pitchFamily="2" charset="77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663230" y="2823906"/>
            <a:ext cx="5238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228" name="Google Shape;228;p23"/>
          <p:cNvSpPr txBox="1"/>
          <p:nvPr/>
        </p:nvSpPr>
        <p:spPr>
          <a:xfrm>
            <a:off x="809625" y="2828770"/>
            <a:ext cx="4731542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Micro-Average AUC (0.992):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 High overall performance.</a:t>
            </a:r>
            <a:endParaRPr sz="1600" dirty="0">
              <a:latin typeface="Merriweather" pitchFamily="2" charset="77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790575" y="3640140"/>
            <a:ext cx="50482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Macro-Average AUC (0.985):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 Strong performance, even for rarer classes.</a:t>
            </a:r>
            <a:endParaRPr sz="1600" dirty="0">
              <a:latin typeface="Merriweather" pitchFamily="2" charset="77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 flipV="1">
            <a:off x="685209" y="3803262"/>
            <a:ext cx="4571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232" name="Google Shape;232;p23"/>
          <p:cNvSpPr txBox="1"/>
          <p:nvPr/>
        </p:nvSpPr>
        <p:spPr>
          <a:xfrm>
            <a:off x="763906" y="4426427"/>
            <a:ext cx="5122544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3333"/>
                </a:solidFill>
                <a:latin typeface="Merriweather" pitchFamily="2" charset="77"/>
                <a:ea typeface="DM Sans"/>
                <a:cs typeface="DM Sans"/>
                <a:sym typeface="DM Sans"/>
              </a:rPr>
              <a:t>The high AUC scores confirm the model is highly discriminative.</a:t>
            </a:r>
            <a:endParaRPr sz="1600" dirty="0">
              <a:latin typeface="Merriweather" pitchFamily="2" charset="77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1869723" y="353736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Final Proof: CNN ROC Analysis</a:t>
            </a:r>
            <a:endParaRPr sz="1600" dirty="0"/>
          </a:p>
        </p:txBody>
      </p:sp>
      <p:sp>
        <p:nvSpPr>
          <p:cNvPr id="2" name="Google Shape;227;p23">
            <a:extLst>
              <a:ext uri="{FF2B5EF4-FFF2-40B4-BE49-F238E27FC236}">
                <a16:creationId xmlns:a16="http://schemas.microsoft.com/office/drawing/2014/main" id="{3354232F-32AF-AB1D-2E96-5E9A063F5CF1}"/>
              </a:ext>
            </a:extLst>
          </p:cNvPr>
          <p:cNvSpPr txBox="1"/>
          <p:nvPr/>
        </p:nvSpPr>
        <p:spPr>
          <a:xfrm flipV="1">
            <a:off x="336593" y="4426427"/>
            <a:ext cx="3714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/>
        </p:nvSpPr>
        <p:spPr>
          <a:xfrm>
            <a:off x="295275" y="2285107"/>
            <a:ext cx="11601450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571500" y="3780532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Thank you.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" grpId="0"/>
      <p:bldP spid="23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734</Words>
  <Application>Microsoft Macintosh PowerPoint</Application>
  <PresentationFormat>Widescreen</PresentationFormat>
  <Paragraphs>102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DM Sans</vt:lpstr>
      <vt:lpstr>Arial</vt:lpstr>
      <vt:lpstr>Merriweather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Bhargav Sai Devineni</cp:lastModifiedBy>
  <cp:revision>14</cp:revision>
  <dcterms:modified xsi:type="dcterms:W3CDTF">2025-11-05T16:02:30Z</dcterms:modified>
</cp:coreProperties>
</file>